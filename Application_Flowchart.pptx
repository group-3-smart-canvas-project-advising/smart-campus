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63F32-E635-E9D6-B196-EE006BD55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FD2C5-7477-291F-F2FB-77CC6D0D7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34796-DCFC-CD1B-E538-35615B31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1B089-6EC7-4DE9-A88B-160EB6935C2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57188-D933-C78F-D6EF-2B859CE8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18913-0495-8FE3-2E0A-38E152328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7430-00B8-4378-9F99-D081DBB0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9863-2C65-4030-5307-FF23FE56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CBE7C-DD35-A231-CAA9-9E5965A95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DCE53-124D-2565-B21E-5277C0B6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1B089-6EC7-4DE9-A88B-160EB6935C2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AD28-2132-CF5B-7681-84A6AA2DF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7CA71-76DC-7CDE-183E-945B8506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7430-00B8-4378-9F99-D081DBB0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2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D188-E032-0EE8-22AD-718DAF9CF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A1458-B27D-BAC7-7DDE-1E23EF8B6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4158D-1B2D-E97B-B4CE-9C2AF9F5E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1B089-6EC7-4DE9-A88B-160EB6935C2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01E08-E73F-A32A-429F-C563481C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BDFB7-E47F-4785-626B-8060D2BA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7430-00B8-4378-9F99-D081DBB0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9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A2EE3-5748-91F2-BBE4-8C15FDEBC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C0AE6-4F2D-DED6-063A-DEDD3C681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D908C-23B4-D0EB-98CB-E2F7BD4D8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68896-10B0-0D95-8D60-C37C92010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1B089-6EC7-4DE9-A88B-160EB6935C2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544CD-5192-E86F-06B2-66ADBAF5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19830-C914-23DD-4A22-0CB164BBE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7430-00B8-4378-9F99-D081DBB0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01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E10E6-D467-80C7-EF89-3EC831BE2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F884F-F459-4D55-E014-5F97D995C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A845F-4003-6082-CFB2-CD5813A1A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0C6656-221E-6B28-C62A-4BB4AA44E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41FEC0-8A1F-04DC-D587-FADF66ECF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EF382-2B6A-FF64-7183-E7101820F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1B089-6EC7-4DE9-A88B-160EB6935C2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D0B6D-7780-5644-5723-51342D745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072B3-A0C1-B53E-2412-3E7F6EDC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7430-00B8-4378-9F99-D081DBB0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8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D3F9-F80D-B710-B893-66EEE3CA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C35589-55E4-135A-CBBA-1BDF9CBA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1B089-6EC7-4DE9-A88B-160EB6935C2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ADE49-70C2-5B8E-B2F9-BC3AC38E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D2532-E5D2-5777-66AB-5C7B2B97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7430-00B8-4378-9F99-D081DBB0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4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8D1D7-AEAA-DA37-1AA0-06623268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1B089-6EC7-4DE9-A88B-160EB6935C2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FCFC5-5718-CC5D-689F-EA05AF2B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51DBD-8FB2-8A6A-9D85-34A4FAA2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7430-00B8-4378-9F99-D081DBB0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3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F9E2-D996-1358-5CD9-A4A7E035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AC3C7-B378-6B1E-0C2C-D3DE05A2D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23D51-99C2-0EAF-A1A8-490C63F57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0BB3C-CBFE-A85E-DF1F-94D5378D2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1B089-6EC7-4DE9-A88B-160EB6935C2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1BA8F-1378-5BAB-47B1-C86DD1AE8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C6D9A-6C6F-2FB7-09FE-706F1EB2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7430-00B8-4378-9F99-D081DBB0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71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DBD0-B186-60BA-4A33-C816BB50C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F438AA-526B-E997-E778-374361F6A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466BF-706D-C4D2-45A6-739FC948D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19D09-DC69-F1B5-D355-581A521D1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1B089-6EC7-4DE9-A88B-160EB6935C2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4CBBA-7AE9-A53A-A72E-20DF0DF0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DAE9E-A8C1-1F28-6CDF-8A79296B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7430-00B8-4378-9F99-D081DBB0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1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1A286-9C80-9CD2-8043-5884CD35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AC7FD-D92F-28A4-491E-138B3DFB6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BCFB4-64D3-E74D-4166-52221E3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1B089-6EC7-4DE9-A88B-160EB6935C2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77E68-816E-AB44-FFD3-CA07F6D3A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DE991-8E8D-FC22-23EF-F24E4A71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7430-00B8-4378-9F99-D081DBB0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9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9A4D28-4728-4029-8DD9-97DBD0BD0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3248D-B1E2-65FF-5F41-BCD777390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E56DF-E673-920F-CDC8-96CD8A05B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1B089-6EC7-4DE9-A88B-160EB6935C2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83A3A-D881-9CA5-3C50-7C8001494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EE8A2-E13E-16DD-F9C8-F9B32FEE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57430-00B8-4378-9F99-D081DBB0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4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B9B6A-E54A-E93D-C087-91998708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16ABE-FD2A-1068-4A59-6E682699D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EB921-48A3-76F7-5684-4B69E413F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1B089-6EC7-4DE9-A88B-160EB6935C25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5BF49-3489-7052-4A74-2B36D0BCF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D2232-2067-2EE9-3A04-A86B2CF03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57430-00B8-4378-9F99-D081DBB08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8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31520F7-8C3F-88F7-A2CC-E112FE68CF7B}"/>
              </a:ext>
            </a:extLst>
          </p:cNvPr>
          <p:cNvSpPr txBox="1"/>
          <p:nvPr/>
        </p:nvSpPr>
        <p:spPr>
          <a:xfrm>
            <a:off x="3785445" y="110224"/>
            <a:ext cx="461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spc="0" baseline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React/Vite + Java + Azure SQL + AI API Flow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0544EC-6143-C4AA-2685-91F4A26FEF87}"/>
              </a:ext>
            </a:extLst>
          </p:cNvPr>
          <p:cNvSpPr/>
          <p:nvPr/>
        </p:nvSpPr>
        <p:spPr>
          <a:xfrm>
            <a:off x="610020" y="848277"/>
            <a:ext cx="2129409" cy="1130808"/>
          </a:xfrm>
          <a:custGeom>
            <a:avLst/>
            <a:gdLst>
              <a:gd name="connsiteX0" fmla="*/ 2058429 w 2129409"/>
              <a:gd name="connsiteY0" fmla="*/ 0 h 1130808"/>
              <a:gd name="connsiteX1" fmla="*/ 2129409 w 2129409"/>
              <a:gd name="connsiteY1" fmla="*/ 0 h 1130808"/>
              <a:gd name="connsiteX2" fmla="*/ 2129409 w 2129409"/>
              <a:gd name="connsiteY2" fmla="*/ 1130808 h 1130808"/>
              <a:gd name="connsiteX3" fmla="*/ 2058429 w 2129409"/>
              <a:gd name="connsiteY3" fmla="*/ 1130808 h 1130808"/>
              <a:gd name="connsiteX4" fmla="*/ 70980 w 2129409"/>
              <a:gd name="connsiteY4" fmla="*/ 1130808 h 1130808"/>
              <a:gd name="connsiteX5" fmla="*/ 0 w 2129409"/>
              <a:gd name="connsiteY5" fmla="*/ 1130808 h 1130808"/>
              <a:gd name="connsiteX6" fmla="*/ 0 w 2129409"/>
              <a:gd name="connsiteY6" fmla="*/ 0 h 1130808"/>
              <a:gd name="connsiteX7" fmla="*/ 70980 w 2129409"/>
              <a:gd name="connsiteY7" fmla="*/ 0 h 1130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29409" h="1130808">
                <a:moveTo>
                  <a:pt x="2058429" y="0"/>
                </a:moveTo>
                <a:cubicBezTo>
                  <a:pt x="2097630" y="0"/>
                  <a:pt x="2129409" y="0"/>
                  <a:pt x="2129409" y="0"/>
                </a:cubicBezTo>
                <a:lnTo>
                  <a:pt x="2129409" y="1130808"/>
                </a:lnTo>
                <a:cubicBezTo>
                  <a:pt x="2129409" y="1130808"/>
                  <a:pt x="2097630" y="1130808"/>
                  <a:pt x="2058429" y="1130808"/>
                </a:cubicBezTo>
                <a:lnTo>
                  <a:pt x="70980" y="1130808"/>
                </a:lnTo>
                <a:cubicBezTo>
                  <a:pt x="31779" y="1130808"/>
                  <a:pt x="0" y="1130808"/>
                  <a:pt x="0" y="1130808"/>
                </a:cubicBezTo>
                <a:lnTo>
                  <a:pt x="0" y="0"/>
                </a:lnTo>
                <a:cubicBezTo>
                  <a:pt x="0" y="0"/>
                  <a:pt x="31779" y="0"/>
                  <a:pt x="70980" y="0"/>
                </a:cubicBezTo>
                <a:close/>
              </a:path>
            </a:pathLst>
          </a:custGeom>
          <a:solidFill>
            <a:srgbClr val="61DAFB"/>
          </a:solidFill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937527-22C6-AEFC-BCFA-F050D70BC6FA}"/>
              </a:ext>
            </a:extLst>
          </p:cNvPr>
          <p:cNvSpPr txBox="1"/>
          <p:nvPr/>
        </p:nvSpPr>
        <p:spPr>
          <a:xfrm>
            <a:off x="1112139" y="1030159"/>
            <a:ext cx="1358834" cy="2986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41" b="1" spc="0" baseline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React/Vite App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FC006F-2524-7EAF-CD89-E580862625E1}"/>
              </a:ext>
            </a:extLst>
          </p:cNvPr>
          <p:cNvSpPr txBox="1"/>
          <p:nvPr/>
        </p:nvSpPr>
        <p:spPr>
          <a:xfrm>
            <a:off x="1242261" y="1353852"/>
            <a:ext cx="1140056" cy="401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6" spc="0" baseline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Frontend UI</a:t>
            </a:r>
          </a:p>
          <a:p>
            <a:pPr algn="l"/>
            <a:r>
              <a:rPr lang="en-US" sz="1006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User Interactions</a:t>
            </a:r>
            <a:endParaRPr lang="en-US" sz="1006" spc="0" baseline="0">
              <a:ln/>
              <a:solidFill>
                <a:srgbClr val="000000"/>
              </a:solidFill>
              <a:cs typeface="Arial"/>
              <a:sym typeface="Arial"/>
              <a:rtl val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A54FA81-7FC1-9092-648B-30228697BF77}"/>
              </a:ext>
            </a:extLst>
          </p:cNvPr>
          <p:cNvSpPr/>
          <p:nvPr/>
        </p:nvSpPr>
        <p:spPr>
          <a:xfrm>
            <a:off x="5016055" y="904646"/>
            <a:ext cx="2129409" cy="3166262"/>
          </a:xfrm>
          <a:custGeom>
            <a:avLst/>
            <a:gdLst>
              <a:gd name="connsiteX0" fmla="*/ 2058429 w 2129409"/>
              <a:gd name="connsiteY0" fmla="*/ 0 h 3166262"/>
              <a:gd name="connsiteX1" fmla="*/ 2129409 w 2129409"/>
              <a:gd name="connsiteY1" fmla="*/ 0 h 3166262"/>
              <a:gd name="connsiteX2" fmla="*/ 2129409 w 2129409"/>
              <a:gd name="connsiteY2" fmla="*/ 3166263 h 3166262"/>
              <a:gd name="connsiteX3" fmla="*/ 2058429 w 2129409"/>
              <a:gd name="connsiteY3" fmla="*/ 3166263 h 3166262"/>
              <a:gd name="connsiteX4" fmla="*/ 70980 w 2129409"/>
              <a:gd name="connsiteY4" fmla="*/ 3166263 h 3166262"/>
              <a:gd name="connsiteX5" fmla="*/ 0 w 2129409"/>
              <a:gd name="connsiteY5" fmla="*/ 3166263 h 3166262"/>
              <a:gd name="connsiteX6" fmla="*/ 0 w 2129409"/>
              <a:gd name="connsiteY6" fmla="*/ 0 h 3166262"/>
              <a:gd name="connsiteX7" fmla="*/ 70980 w 2129409"/>
              <a:gd name="connsiteY7" fmla="*/ 0 h 3166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29409" h="3166262">
                <a:moveTo>
                  <a:pt x="2058429" y="0"/>
                </a:moveTo>
                <a:cubicBezTo>
                  <a:pt x="2097630" y="0"/>
                  <a:pt x="2129409" y="0"/>
                  <a:pt x="2129409" y="0"/>
                </a:cubicBezTo>
                <a:lnTo>
                  <a:pt x="2129409" y="3166263"/>
                </a:lnTo>
                <a:cubicBezTo>
                  <a:pt x="2129409" y="3166263"/>
                  <a:pt x="2097630" y="3166263"/>
                  <a:pt x="2058429" y="3166263"/>
                </a:cubicBezTo>
                <a:lnTo>
                  <a:pt x="70980" y="3166263"/>
                </a:lnTo>
                <a:cubicBezTo>
                  <a:pt x="31779" y="3166263"/>
                  <a:pt x="0" y="3166263"/>
                  <a:pt x="0" y="3166263"/>
                </a:cubicBezTo>
                <a:lnTo>
                  <a:pt x="0" y="0"/>
                </a:lnTo>
                <a:cubicBezTo>
                  <a:pt x="0" y="0"/>
                  <a:pt x="31779" y="0"/>
                  <a:pt x="70980" y="0"/>
                </a:cubicBezTo>
                <a:close/>
              </a:path>
            </a:pathLst>
          </a:custGeom>
          <a:solidFill>
            <a:srgbClr val="F89820"/>
          </a:solidFill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CEFCE6-9F2E-DFF7-1D07-4A0F57C5D49A}"/>
              </a:ext>
            </a:extLst>
          </p:cNvPr>
          <p:cNvSpPr txBox="1"/>
          <p:nvPr/>
        </p:nvSpPr>
        <p:spPr>
          <a:xfrm>
            <a:off x="5329104" y="1034378"/>
            <a:ext cx="1531701" cy="2986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41" b="1" spc="0" baseline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Java Backend API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A40EA7A-7AAC-85C4-CAC4-421425787ADB}"/>
              </a:ext>
            </a:extLst>
          </p:cNvPr>
          <p:cNvSpPr/>
          <p:nvPr/>
        </p:nvSpPr>
        <p:spPr>
          <a:xfrm>
            <a:off x="5228996" y="1413510"/>
            <a:ext cx="1703527" cy="339242"/>
          </a:xfrm>
          <a:custGeom>
            <a:avLst/>
            <a:gdLst>
              <a:gd name="connsiteX0" fmla="*/ 1660939 w 1703527"/>
              <a:gd name="connsiteY0" fmla="*/ 0 h 339242"/>
              <a:gd name="connsiteX1" fmla="*/ 1703527 w 1703527"/>
              <a:gd name="connsiteY1" fmla="*/ 0 h 339242"/>
              <a:gd name="connsiteX2" fmla="*/ 1703527 w 1703527"/>
              <a:gd name="connsiteY2" fmla="*/ 339242 h 339242"/>
              <a:gd name="connsiteX3" fmla="*/ 1660939 w 1703527"/>
              <a:gd name="connsiteY3" fmla="*/ 339242 h 339242"/>
              <a:gd name="connsiteX4" fmla="*/ 42588 w 1703527"/>
              <a:gd name="connsiteY4" fmla="*/ 339242 h 339242"/>
              <a:gd name="connsiteX5" fmla="*/ 0 w 1703527"/>
              <a:gd name="connsiteY5" fmla="*/ 339242 h 339242"/>
              <a:gd name="connsiteX6" fmla="*/ 0 w 1703527"/>
              <a:gd name="connsiteY6" fmla="*/ 0 h 339242"/>
              <a:gd name="connsiteX7" fmla="*/ 42588 w 1703527"/>
              <a:gd name="connsiteY7" fmla="*/ 0 h 33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3527" h="339242">
                <a:moveTo>
                  <a:pt x="1660939" y="0"/>
                </a:moveTo>
                <a:cubicBezTo>
                  <a:pt x="1684460" y="0"/>
                  <a:pt x="1703527" y="0"/>
                  <a:pt x="1703527" y="0"/>
                </a:cubicBezTo>
                <a:lnTo>
                  <a:pt x="1703527" y="339242"/>
                </a:lnTo>
                <a:cubicBezTo>
                  <a:pt x="1703527" y="339242"/>
                  <a:pt x="1684460" y="339242"/>
                  <a:pt x="1660939" y="339242"/>
                </a:cubicBezTo>
                <a:lnTo>
                  <a:pt x="42588" y="339242"/>
                </a:lnTo>
                <a:cubicBezTo>
                  <a:pt x="19067" y="339242"/>
                  <a:pt x="0" y="339242"/>
                  <a:pt x="0" y="339242"/>
                </a:cubicBezTo>
                <a:lnTo>
                  <a:pt x="0" y="0"/>
                </a:lnTo>
                <a:cubicBezTo>
                  <a:pt x="0" y="0"/>
                  <a:pt x="19067" y="0"/>
                  <a:pt x="42588" y="0"/>
                </a:cubicBezTo>
                <a:close/>
              </a:path>
            </a:pathLst>
          </a:custGeom>
          <a:solidFill>
            <a:srgbClr val="FFF8E1"/>
          </a:solidFill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A0F3E1-1C38-1F2D-B67C-5398F9D1A045}"/>
              </a:ext>
            </a:extLst>
          </p:cNvPr>
          <p:cNvSpPr txBox="1"/>
          <p:nvPr/>
        </p:nvSpPr>
        <p:spPr>
          <a:xfrm>
            <a:off x="5556417" y="1481345"/>
            <a:ext cx="1048684" cy="234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22" spc="0" baseline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REST Controllers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DDBC017-EF00-B4C9-08FF-5BBBE7252580}"/>
              </a:ext>
            </a:extLst>
          </p:cNvPr>
          <p:cNvSpPr/>
          <p:nvPr/>
        </p:nvSpPr>
        <p:spPr>
          <a:xfrm>
            <a:off x="5228996" y="1865833"/>
            <a:ext cx="1703527" cy="339242"/>
          </a:xfrm>
          <a:custGeom>
            <a:avLst/>
            <a:gdLst>
              <a:gd name="connsiteX0" fmla="*/ 1660939 w 1703527"/>
              <a:gd name="connsiteY0" fmla="*/ 0 h 339242"/>
              <a:gd name="connsiteX1" fmla="*/ 1703527 w 1703527"/>
              <a:gd name="connsiteY1" fmla="*/ 0 h 339242"/>
              <a:gd name="connsiteX2" fmla="*/ 1703527 w 1703527"/>
              <a:gd name="connsiteY2" fmla="*/ 339242 h 339242"/>
              <a:gd name="connsiteX3" fmla="*/ 1660939 w 1703527"/>
              <a:gd name="connsiteY3" fmla="*/ 339242 h 339242"/>
              <a:gd name="connsiteX4" fmla="*/ 42588 w 1703527"/>
              <a:gd name="connsiteY4" fmla="*/ 339242 h 339242"/>
              <a:gd name="connsiteX5" fmla="*/ 0 w 1703527"/>
              <a:gd name="connsiteY5" fmla="*/ 339242 h 339242"/>
              <a:gd name="connsiteX6" fmla="*/ 0 w 1703527"/>
              <a:gd name="connsiteY6" fmla="*/ 0 h 339242"/>
              <a:gd name="connsiteX7" fmla="*/ 42588 w 1703527"/>
              <a:gd name="connsiteY7" fmla="*/ 0 h 33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3527" h="339242">
                <a:moveTo>
                  <a:pt x="1660939" y="0"/>
                </a:moveTo>
                <a:cubicBezTo>
                  <a:pt x="1684460" y="0"/>
                  <a:pt x="1703527" y="0"/>
                  <a:pt x="1703527" y="0"/>
                </a:cubicBezTo>
                <a:lnTo>
                  <a:pt x="1703527" y="339242"/>
                </a:lnTo>
                <a:cubicBezTo>
                  <a:pt x="1703527" y="339242"/>
                  <a:pt x="1684460" y="339242"/>
                  <a:pt x="1660939" y="339242"/>
                </a:cubicBezTo>
                <a:lnTo>
                  <a:pt x="42588" y="339242"/>
                </a:lnTo>
                <a:cubicBezTo>
                  <a:pt x="19067" y="339242"/>
                  <a:pt x="0" y="339242"/>
                  <a:pt x="0" y="339242"/>
                </a:cubicBezTo>
                <a:lnTo>
                  <a:pt x="0" y="0"/>
                </a:lnTo>
                <a:cubicBezTo>
                  <a:pt x="0" y="0"/>
                  <a:pt x="19067" y="0"/>
                  <a:pt x="42588" y="0"/>
                </a:cubicBezTo>
                <a:close/>
              </a:path>
            </a:pathLst>
          </a:custGeom>
          <a:solidFill>
            <a:srgbClr val="FFF8E1"/>
          </a:solidFill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D28E80-2016-F252-A64E-64B864CD007D}"/>
              </a:ext>
            </a:extLst>
          </p:cNvPr>
          <p:cNvSpPr txBox="1"/>
          <p:nvPr/>
        </p:nvSpPr>
        <p:spPr>
          <a:xfrm>
            <a:off x="5649390" y="1933668"/>
            <a:ext cx="862737" cy="234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22" spc="0" baseline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Service Layer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1A309F6-E865-336E-F19A-A61DFDDD28F1}"/>
              </a:ext>
            </a:extLst>
          </p:cNvPr>
          <p:cNvSpPr/>
          <p:nvPr/>
        </p:nvSpPr>
        <p:spPr>
          <a:xfrm>
            <a:off x="5228996" y="2318156"/>
            <a:ext cx="1703527" cy="339242"/>
          </a:xfrm>
          <a:custGeom>
            <a:avLst/>
            <a:gdLst>
              <a:gd name="connsiteX0" fmla="*/ 1660939 w 1703527"/>
              <a:gd name="connsiteY0" fmla="*/ 0 h 339242"/>
              <a:gd name="connsiteX1" fmla="*/ 1703527 w 1703527"/>
              <a:gd name="connsiteY1" fmla="*/ 0 h 339242"/>
              <a:gd name="connsiteX2" fmla="*/ 1703527 w 1703527"/>
              <a:gd name="connsiteY2" fmla="*/ 339242 h 339242"/>
              <a:gd name="connsiteX3" fmla="*/ 1660939 w 1703527"/>
              <a:gd name="connsiteY3" fmla="*/ 339242 h 339242"/>
              <a:gd name="connsiteX4" fmla="*/ 42588 w 1703527"/>
              <a:gd name="connsiteY4" fmla="*/ 339242 h 339242"/>
              <a:gd name="connsiteX5" fmla="*/ 0 w 1703527"/>
              <a:gd name="connsiteY5" fmla="*/ 339242 h 339242"/>
              <a:gd name="connsiteX6" fmla="*/ 0 w 1703527"/>
              <a:gd name="connsiteY6" fmla="*/ 0 h 339242"/>
              <a:gd name="connsiteX7" fmla="*/ 42588 w 1703527"/>
              <a:gd name="connsiteY7" fmla="*/ 0 h 33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3527" h="339242">
                <a:moveTo>
                  <a:pt x="1660939" y="0"/>
                </a:moveTo>
                <a:cubicBezTo>
                  <a:pt x="1684460" y="0"/>
                  <a:pt x="1703527" y="0"/>
                  <a:pt x="1703527" y="0"/>
                </a:cubicBezTo>
                <a:lnTo>
                  <a:pt x="1703527" y="339242"/>
                </a:lnTo>
                <a:cubicBezTo>
                  <a:pt x="1703527" y="339242"/>
                  <a:pt x="1684460" y="339242"/>
                  <a:pt x="1660939" y="339242"/>
                </a:cubicBezTo>
                <a:lnTo>
                  <a:pt x="42588" y="339242"/>
                </a:lnTo>
                <a:cubicBezTo>
                  <a:pt x="19067" y="339242"/>
                  <a:pt x="0" y="339242"/>
                  <a:pt x="0" y="339242"/>
                </a:cubicBezTo>
                <a:lnTo>
                  <a:pt x="0" y="0"/>
                </a:lnTo>
                <a:cubicBezTo>
                  <a:pt x="0" y="0"/>
                  <a:pt x="19067" y="0"/>
                  <a:pt x="42588" y="0"/>
                </a:cubicBezTo>
                <a:close/>
              </a:path>
            </a:pathLst>
          </a:custGeom>
          <a:solidFill>
            <a:srgbClr val="FFF8E1"/>
          </a:solidFill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B01EC8-A1B7-E7CF-5489-6BC2C7E71D24}"/>
              </a:ext>
            </a:extLst>
          </p:cNvPr>
          <p:cNvSpPr txBox="1"/>
          <p:nvPr/>
        </p:nvSpPr>
        <p:spPr>
          <a:xfrm>
            <a:off x="5532371" y="2385992"/>
            <a:ext cx="1096775" cy="234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22" spc="0" baseline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Data Access (JPA)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D07E751-92BE-B3C6-40C5-B7260F7EE840}"/>
              </a:ext>
            </a:extLst>
          </p:cNvPr>
          <p:cNvSpPr/>
          <p:nvPr/>
        </p:nvSpPr>
        <p:spPr>
          <a:xfrm>
            <a:off x="5228996" y="2770479"/>
            <a:ext cx="1703527" cy="339242"/>
          </a:xfrm>
          <a:custGeom>
            <a:avLst/>
            <a:gdLst>
              <a:gd name="connsiteX0" fmla="*/ 1660939 w 1703527"/>
              <a:gd name="connsiteY0" fmla="*/ 0 h 339242"/>
              <a:gd name="connsiteX1" fmla="*/ 1703527 w 1703527"/>
              <a:gd name="connsiteY1" fmla="*/ 0 h 339242"/>
              <a:gd name="connsiteX2" fmla="*/ 1703527 w 1703527"/>
              <a:gd name="connsiteY2" fmla="*/ 339242 h 339242"/>
              <a:gd name="connsiteX3" fmla="*/ 1660939 w 1703527"/>
              <a:gd name="connsiteY3" fmla="*/ 339242 h 339242"/>
              <a:gd name="connsiteX4" fmla="*/ 42588 w 1703527"/>
              <a:gd name="connsiteY4" fmla="*/ 339242 h 339242"/>
              <a:gd name="connsiteX5" fmla="*/ 0 w 1703527"/>
              <a:gd name="connsiteY5" fmla="*/ 339242 h 339242"/>
              <a:gd name="connsiteX6" fmla="*/ 0 w 1703527"/>
              <a:gd name="connsiteY6" fmla="*/ 0 h 339242"/>
              <a:gd name="connsiteX7" fmla="*/ 42588 w 1703527"/>
              <a:gd name="connsiteY7" fmla="*/ 0 h 33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3527" h="339242">
                <a:moveTo>
                  <a:pt x="1660939" y="0"/>
                </a:moveTo>
                <a:cubicBezTo>
                  <a:pt x="1684460" y="0"/>
                  <a:pt x="1703527" y="0"/>
                  <a:pt x="1703527" y="0"/>
                </a:cubicBezTo>
                <a:lnTo>
                  <a:pt x="1703527" y="339242"/>
                </a:lnTo>
                <a:cubicBezTo>
                  <a:pt x="1703527" y="339242"/>
                  <a:pt x="1684460" y="339242"/>
                  <a:pt x="1660939" y="339242"/>
                </a:cubicBezTo>
                <a:lnTo>
                  <a:pt x="42588" y="339242"/>
                </a:lnTo>
                <a:cubicBezTo>
                  <a:pt x="19067" y="339242"/>
                  <a:pt x="0" y="339242"/>
                  <a:pt x="0" y="339242"/>
                </a:cubicBezTo>
                <a:lnTo>
                  <a:pt x="0" y="0"/>
                </a:lnTo>
                <a:cubicBezTo>
                  <a:pt x="0" y="0"/>
                  <a:pt x="19067" y="0"/>
                  <a:pt x="42588" y="0"/>
                </a:cubicBezTo>
                <a:close/>
              </a:path>
            </a:pathLst>
          </a:custGeom>
          <a:solidFill>
            <a:srgbClr val="FFF8E1"/>
          </a:solidFill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27587B-FA54-1EFA-1893-6FBB6EC44FAD}"/>
              </a:ext>
            </a:extLst>
          </p:cNvPr>
          <p:cNvSpPr txBox="1"/>
          <p:nvPr/>
        </p:nvSpPr>
        <p:spPr>
          <a:xfrm>
            <a:off x="5638170" y="2838315"/>
            <a:ext cx="885179" cy="234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22" spc="0" baseline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Security/Auth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5EF5F4-63D2-274F-8112-8208C098DD50}"/>
              </a:ext>
            </a:extLst>
          </p:cNvPr>
          <p:cNvSpPr/>
          <p:nvPr/>
        </p:nvSpPr>
        <p:spPr>
          <a:xfrm>
            <a:off x="5228996" y="3222802"/>
            <a:ext cx="1703527" cy="339242"/>
          </a:xfrm>
          <a:custGeom>
            <a:avLst/>
            <a:gdLst>
              <a:gd name="connsiteX0" fmla="*/ 1660939 w 1703527"/>
              <a:gd name="connsiteY0" fmla="*/ 0 h 339242"/>
              <a:gd name="connsiteX1" fmla="*/ 1703527 w 1703527"/>
              <a:gd name="connsiteY1" fmla="*/ 0 h 339242"/>
              <a:gd name="connsiteX2" fmla="*/ 1703527 w 1703527"/>
              <a:gd name="connsiteY2" fmla="*/ 339242 h 339242"/>
              <a:gd name="connsiteX3" fmla="*/ 1660939 w 1703527"/>
              <a:gd name="connsiteY3" fmla="*/ 339242 h 339242"/>
              <a:gd name="connsiteX4" fmla="*/ 42588 w 1703527"/>
              <a:gd name="connsiteY4" fmla="*/ 339242 h 339242"/>
              <a:gd name="connsiteX5" fmla="*/ 0 w 1703527"/>
              <a:gd name="connsiteY5" fmla="*/ 339242 h 339242"/>
              <a:gd name="connsiteX6" fmla="*/ 0 w 1703527"/>
              <a:gd name="connsiteY6" fmla="*/ 0 h 339242"/>
              <a:gd name="connsiteX7" fmla="*/ 42588 w 1703527"/>
              <a:gd name="connsiteY7" fmla="*/ 0 h 33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3527" h="339242">
                <a:moveTo>
                  <a:pt x="1660939" y="0"/>
                </a:moveTo>
                <a:cubicBezTo>
                  <a:pt x="1684460" y="0"/>
                  <a:pt x="1703527" y="0"/>
                  <a:pt x="1703527" y="0"/>
                </a:cubicBezTo>
                <a:lnTo>
                  <a:pt x="1703527" y="339242"/>
                </a:lnTo>
                <a:cubicBezTo>
                  <a:pt x="1703527" y="339242"/>
                  <a:pt x="1684460" y="339242"/>
                  <a:pt x="1660939" y="339242"/>
                </a:cubicBezTo>
                <a:lnTo>
                  <a:pt x="42588" y="339242"/>
                </a:lnTo>
                <a:cubicBezTo>
                  <a:pt x="19067" y="339242"/>
                  <a:pt x="0" y="339242"/>
                  <a:pt x="0" y="339242"/>
                </a:cubicBezTo>
                <a:lnTo>
                  <a:pt x="0" y="0"/>
                </a:lnTo>
                <a:cubicBezTo>
                  <a:pt x="0" y="0"/>
                  <a:pt x="19067" y="0"/>
                  <a:pt x="42588" y="0"/>
                </a:cubicBezTo>
                <a:close/>
              </a:path>
            </a:pathLst>
          </a:custGeom>
          <a:solidFill>
            <a:srgbClr val="FFF8E1"/>
          </a:solidFill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6319A9-864B-B38A-AA6E-CFE05258304F}"/>
              </a:ext>
            </a:extLst>
          </p:cNvPr>
          <p:cNvSpPr txBox="1"/>
          <p:nvPr/>
        </p:nvSpPr>
        <p:spPr>
          <a:xfrm>
            <a:off x="5676642" y="3290638"/>
            <a:ext cx="808234" cy="234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22" spc="0" baseline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AI API Client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993CDF4-5050-E065-430A-AA90678B3DAF}"/>
              </a:ext>
            </a:extLst>
          </p:cNvPr>
          <p:cNvSpPr/>
          <p:nvPr/>
        </p:nvSpPr>
        <p:spPr>
          <a:xfrm>
            <a:off x="5228996" y="3675126"/>
            <a:ext cx="1703527" cy="282702"/>
          </a:xfrm>
          <a:custGeom>
            <a:avLst/>
            <a:gdLst>
              <a:gd name="connsiteX0" fmla="*/ 1660939 w 1703527"/>
              <a:gd name="connsiteY0" fmla="*/ 0 h 282702"/>
              <a:gd name="connsiteX1" fmla="*/ 1703527 w 1703527"/>
              <a:gd name="connsiteY1" fmla="*/ 0 h 282702"/>
              <a:gd name="connsiteX2" fmla="*/ 1703527 w 1703527"/>
              <a:gd name="connsiteY2" fmla="*/ 282702 h 282702"/>
              <a:gd name="connsiteX3" fmla="*/ 1660939 w 1703527"/>
              <a:gd name="connsiteY3" fmla="*/ 282702 h 282702"/>
              <a:gd name="connsiteX4" fmla="*/ 42588 w 1703527"/>
              <a:gd name="connsiteY4" fmla="*/ 282702 h 282702"/>
              <a:gd name="connsiteX5" fmla="*/ 0 w 1703527"/>
              <a:gd name="connsiteY5" fmla="*/ 282702 h 282702"/>
              <a:gd name="connsiteX6" fmla="*/ 0 w 1703527"/>
              <a:gd name="connsiteY6" fmla="*/ 0 h 282702"/>
              <a:gd name="connsiteX7" fmla="*/ 42588 w 1703527"/>
              <a:gd name="connsiteY7" fmla="*/ 0 h 28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3527" h="282702">
                <a:moveTo>
                  <a:pt x="1660939" y="0"/>
                </a:moveTo>
                <a:cubicBezTo>
                  <a:pt x="1684460" y="0"/>
                  <a:pt x="1703527" y="0"/>
                  <a:pt x="1703527" y="0"/>
                </a:cubicBezTo>
                <a:lnTo>
                  <a:pt x="1703527" y="282702"/>
                </a:lnTo>
                <a:cubicBezTo>
                  <a:pt x="1703527" y="282702"/>
                  <a:pt x="1684460" y="282702"/>
                  <a:pt x="1660939" y="282702"/>
                </a:cubicBezTo>
                <a:lnTo>
                  <a:pt x="42588" y="282702"/>
                </a:lnTo>
                <a:cubicBezTo>
                  <a:pt x="19067" y="282702"/>
                  <a:pt x="0" y="282702"/>
                  <a:pt x="0" y="282702"/>
                </a:cubicBezTo>
                <a:lnTo>
                  <a:pt x="0" y="0"/>
                </a:lnTo>
                <a:cubicBezTo>
                  <a:pt x="0" y="0"/>
                  <a:pt x="19067" y="0"/>
                  <a:pt x="42588" y="0"/>
                </a:cubicBezTo>
                <a:close/>
              </a:path>
            </a:pathLst>
          </a:custGeom>
          <a:solidFill>
            <a:srgbClr val="FFF8E1"/>
          </a:solidFill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6D0E1A-F288-9EAE-30BD-95EAB91BE330}"/>
              </a:ext>
            </a:extLst>
          </p:cNvPr>
          <p:cNvSpPr txBox="1"/>
          <p:nvPr/>
        </p:nvSpPr>
        <p:spPr>
          <a:xfrm>
            <a:off x="5520349" y="3709037"/>
            <a:ext cx="1120820" cy="234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22" spc="0" baseline="0">
                <a:ln/>
                <a:solidFill>
                  <a:srgbClr val="000000"/>
                </a:solidFill>
                <a:cs typeface="Arial"/>
                <a:sym typeface="Arial"/>
                <a:rtl val="0"/>
              </a:rPr>
              <a:t>JDBC Connection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45A41F0-48C8-0EBE-A54C-06DD2D73A46B}"/>
              </a:ext>
            </a:extLst>
          </p:cNvPr>
          <p:cNvSpPr/>
          <p:nvPr/>
        </p:nvSpPr>
        <p:spPr>
          <a:xfrm>
            <a:off x="4900357" y="5607118"/>
            <a:ext cx="2600605" cy="1140658"/>
          </a:xfrm>
          <a:custGeom>
            <a:avLst/>
            <a:gdLst>
              <a:gd name="connsiteX0" fmla="*/ 2058429 w 2129409"/>
              <a:gd name="connsiteY0" fmla="*/ 0 h 904646"/>
              <a:gd name="connsiteX1" fmla="*/ 2129409 w 2129409"/>
              <a:gd name="connsiteY1" fmla="*/ 0 h 904646"/>
              <a:gd name="connsiteX2" fmla="*/ 2129409 w 2129409"/>
              <a:gd name="connsiteY2" fmla="*/ 904646 h 904646"/>
              <a:gd name="connsiteX3" fmla="*/ 2058429 w 2129409"/>
              <a:gd name="connsiteY3" fmla="*/ 904646 h 904646"/>
              <a:gd name="connsiteX4" fmla="*/ 70980 w 2129409"/>
              <a:gd name="connsiteY4" fmla="*/ 904646 h 904646"/>
              <a:gd name="connsiteX5" fmla="*/ 0 w 2129409"/>
              <a:gd name="connsiteY5" fmla="*/ 904646 h 904646"/>
              <a:gd name="connsiteX6" fmla="*/ 0 w 2129409"/>
              <a:gd name="connsiteY6" fmla="*/ 0 h 904646"/>
              <a:gd name="connsiteX7" fmla="*/ 70980 w 2129409"/>
              <a:gd name="connsiteY7" fmla="*/ 0 h 904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29409" h="904646">
                <a:moveTo>
                  <a:pt x="2058429" y="0"/>
                </a:moveTo>
                <a:cubicBezTo>
                  <a:pt x="2097630" y="0"/>
                  <a:pt x="2129409" y="0"/>
                  <a:pt x="2129409" y="0"/>
                </a:cubicBezTo>
                <a:lnTo>
                  <a:pt x="2129409" y="904646"/>
                </a:lnTo>
                <a:cubicBezTo>
                  <a:pt x="2129409" y="904646"/>
                  <a:pt x="2097630" y="904646"/>
                  <a:pt x="2058429" y="904646"/>
                </a:cubicBezTo>
                <a:lnTo>
                  <a:pt x="70980" y="904646"/>
                </a:lnTo>
                <a:cubicBezTo>
                  <a:pt x="31779" y="904646"/>
                  <a:pt x="0" y="904646"/>
                  <a:pt x="0" y="904646"/>
                </a:cubicBezTo>
                <a:lnTo>
                  <a:pt x="0" y="0"/>
                </a:lnTo>
                <a:cubicBezTo>
                  <a:pt x="0" y="0"/>
                  <a:pt x="31779" y="0"/>
                  <a:pt x="70980" y="0"/>
                </a:cubicBezTo>
                <a:close/>
              </a:path>
            </a:pathLst>
          </a:custGeom>
          <a:solidFill>
            <a:srgbClr val="0078D4"/>
          </a:solidFill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15FED3-5DAC-3E3F-803F-4068D8F29E88}"/>
              </a:ext>
            </a:extLst>
          </p:cNvPr>
          <p:cNvSpPr txBox="1"/>
          <p:nvPr/>
        </p:nvSpPr>
        <p:spPr>
          <a:xfrm>
            <a:off x="5394828" y="5705287"/>
            <a:ext cx="1903958" cy="298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341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Azure SQL Database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42E98B-1AB7-F00B-3B33-DEA9C159831D}"/>
              </a:ext>
            </a:extLst>
          </p:cNvPr>
          <p:cNvSpPr txBox="1"/>
          <p:nvPr/>
        </p:nvSpPr>
        <p:spPr>
          <a:xfrm>
            <a:off x="5768167" y="6039801"/>
            <a:ext cx="1247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FFFFFF"/>
                </a:solidFill>
                <a:cs typeface="Arial"/>
                <a:sym typeface="Arial"/>
                <a:rtl val="0"/>
              </a:rPr>
              <a:t>User Data</a:t>
            </a:r>
            <a:endParaRPr lang="en-US" sz="1200">
              <a:ln/>
              <a:solidFill>
                <a:srgbClr val="FFFFFF"/>
              </a:solidFill>
              <a:cs typeface="Arial"/>
              <a:sym typeface="Arial"/>
              <a:rtl val="0"/>
            </a:endParaRPr>
          </a:p>
          <a:p>
            <a:pPr algn="l"/>
            <a:r>
              <a:rPr lang="en-US" sz="1200">
                <a:ln/>
                <a:solidFill>
                  <a:srgbClr val="FFFFFF"/>
                </a:solidFill>
                <a:cs typeface="Arial"/>
                <a:sym typeface="Arial"/>
                <a:rtl val="0"/>
              </a:rPr>
              <a:t>Analysis History</a:t>
            </a:r>
          </a:p>
          <a:p>
            <a:pPr algn="l"/>
            <a:r>
              <a:rPr lang="en-US" sz="1200">
                <a:ln/>
                <a:solidFill>
                  <a:srgbClr val="FFFFFF"/>
                </a:solidFill>
                <a:cs typeface="Arial"/>
                <a:sym typeface="Arial"/>
                <a:rtl val="0"/>
              </a:rPr>
              <a:t>Settings</a:t>
            </a:r>
            <a:endParaRPr lang="en-US" sz="1200" spc="0" baseline="0">
              <a:ln/>
              <a:solidFill>
                <a:srgbClr val="FFFFFF"/>
              </a:solidFill>
              <a:cs typeface="Arial"/>
              <a:sym typeface="Arial"/>
              <a:rtl val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D3BC849-30E8-0F27-8824-0BF11DD53BF7}"/>
              </a:ext>
            </a:extLst>
          </p:cNvPr>
          <p:cNvSpPr/>
          <p:nvPr/>
        </p:nvSpPr>
        <p:spPr>
          <a:xfrm>
            <a:off x="8919972" y="904646"/>
            <a:ext cx="2129409" cy="1130808"/>
          </a:xfrm>
          <a:custGeom>
            <a:avLst/>
            <a:gdLst>
              <a:gd name="connsiteX0" fmla="*/ 2058429 w 2129409"/>
              <a:gd name="connsiteY0" fmla="*/ 0 h 1130808"/>
              <a:gd name="connsiteX1" fmla="*/ 2129409 w 2129409"/>
              <a:gd name="connsiteY1" fmla="*/ 0 h 1130808"/>
              <a:gd name="connsiteX2" fmla="*/ 2129409 w 2129409"/>
              <a:gd name="connsiteY2" fmla="*/ 1130808 h 1130808"/>
              <a:gd name="connsiteX3" fmla="*/ 2058429 w 2129409"/>
              <a:gd name="connsiteY3" fmla="*/ 1130808 h 1130808"/>
              <a:gd name="connsiteX4" fmla="*/ 70980 w 2129409"/>
              <a:gd name="connsiteY4" fmla="*/ 1130808 h 1130808"/>
              <a:gd name="connsiteX5" fmla="*/ 0 w 2129409"/>
              <a:gd name="connsiteY5" fmla="*/ 1130808 h 1130808"/>
              <a:gd name="connsiteX6" fmla="*/ 0 w 2129409"/>
              <a:gd name="connsiteY6" fmla="*/ 0 h 1130808"/>
              <a:gd name="connsiteX7" fmla="*/ 70980 w 2129409"/>
              <a:gd name="connsiteY7" fmla="*/ 0 h 1130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29409" h="1130808">
                <a:moveTo>
                  <a:pt x="2058429" y="0"/>
                </a:moveTo>
                <a:cubicBezTo>
                  <a:pt x="2097630" y="0"/>
                  <a:pt x="2129409" y="0"/>
                  <a:pt x="2129409" y="0"/>
                </a:cubicBezTo>
                <a:lnTo>
                  <a:pt x="2129409" y="1130808"/>
                </a:lnTo>
                <a:cubicBezTo>
                  <a:pt x="2129409" y="1130808"/>
                  <a:pt x="2097630" y="1130808"/>
                  <a:pt x="2058429" y="1130808"/>
                </a:cubicBezTo>
                <a:lnTo>
                  <a:pt x="70980" y="1130808"/>
                </a:lnTo>
                <a:cubicBezTo>
                  <a:pt x="31779" y="1130808"/>
                  <a:pt x="0" y="1130808"/>
                  <a:pt x="0" y="1130808"/>
                </a:cubicBezTo>
                <a:lnTo>
                  <a:pt x="0" y="0"/>
                </a:lnTo>
                <a:cubicBezTo>
                  <a:pt x="0" y="0"/>
                  <a:pt x="31779" y="0"/>
                  <a:pt x="70980" y="0"/>
                </a:cubicBezTo>
                <a:close/>
              </a:path>
            </a:pathLst>
          </a:custGeom>
          <a:solidFill>
            <a:srgbClr val="10A37F"/>
          </a:solidFill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6698BF-5AD0-7FEC-E86C-D3EAF182A1C1}"/>
              </a:ext>
            </a:extLst>
          </p:cNvPr>
          <p:cNvSpPr txBox="1"/>
          <p:nvPr/>
        </p:nvSpPr>
        <p:spPr>
          <a:xfrm>
            <a:off x="9127314" y="1034378"/>
            <a:ext cx="1264513" cy="2986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41" b="1" spc="0" baseline="0">
                <a:ln/>
                <a:solidFill>
                  <a:srgbClr val="FFFFFF"/>
                </a:solidFill>
                <a:cs typeface="Arial"/>
                <a:sym typeface="Arial"/>
                <a:rtl val="0"/>
              </a:rPr>
              <a:t>AI API Service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477192-F3FD-95A2-B808-A0A24E642A5F}"/>
              </a:ext>
            </a:extLst>
          </p:cNvPr>
          <p:cNvSpPr txBox="1"/>
          <p:nvPr/>
        </p:nvSpPr>
        <p:spPr>
          <a:xfrm>
            <a:off x="9362922" y="1358027"/>
            <a:ext cx="933269" cy="5566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6" spc="0" baseline="0">
                <a:ln/>
                <a:solidFill>
                  <a:srgbClr val="FFFFFF"/>
                </a:solidFill>
                <a:cs typeface="Arial"/>
                <a:sym typeface="Arial"/>
                <a:rtl val="0"/>
              </a:rPr>
              <a:t>Hugging Face</a:t>
            </a:r>
          </a:p>
          <a:p>
            <a:pPr algn="l"/>
            <a:r>
              <a:rPr lang="en-US" sz="1006">
                <a:ln/>
                <a:solidFill>
                  <a:srgbClr val="FFFFFF"/>
                </a:solidFill>
                <a:cs typeface="Arial"/>
                <a:sym typeface="Arial"/>
                <a:rtl val="0"/>
              </a:rPr>
              <a:t>Groq</a:t>
            </a:r>
          </a:p>
          <a:p>
            <a:pPr algn="l"/>
            <a:r>
              <a:rPr lang="en-US" sz="1006" spc="0" baseline="0">
                <a:ln/>
                <a:solidFill>
                  <a:srgbClr val="FFFFFF"/>
                </a:solidFill>
                <a:cs typeface="Arial"/>
                <a:sym typeface="Arial"/>
                <a:rtl val="0"/>
              </a:rPr>
              <a:t>Gemini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EEEF4AB-1AAC-50DD-FFCE-0E282ED3728A}"/>
              </a:ext>
            </a:extLst>
          </p:cNvPr>
          <p:cNvSpPr/>
          <p:nvPr/>
        </p:nvSpPr>
        <p:spPr>
          <a:xfrm flipV="1">
            <a:off x="2767599" y="1481357"/>
            <a:ext cx="2248457" cy="92775"/>
          </a:xfrm>
          <a:custGeom>
            <a:avLst/>
            <a:gdLst>
              <a:gd name="connsiteX0" fmla="*/ 0 w 1774507"/>
              <a:gd name="connsiteY0" fmla="*/ 0 h 11308"/>
              <a:gd name="connsiteX1" fmla="*/ 1774508 w 1774507"/>
              <a:gd name="connsiteY1" fmla="*/ 0 h 1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4507" h="11308">
                <a:moveTo>
                  <a:pt x="0" y="0"/>
                </a:moveTo>
                <a:lnTo>
                  <a:pt x="1774508" y="0"/>
                </a:lnTo>
              </a:path>
            </a:pathLst>
          </a:custGeom>
          <a:noFill/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A09A8F-83E5-5A90-4D8D-C56C97FE82BC}"/>
              </a:ext>
            </a:extLst>
          </p:cNvPr>
          <p:cNvSpPr txBox="1"/>
          <p:nvPr/>
        </p:nvSpPr>
        <p:spPr>
          <a:xfrm>
            <a:off x="3331430" y="1074745"/>
            <a:ext cx="1390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 algn="l">
              <a:buAutoNum type="arabicPeriod"/>
            </a:pPr>
            <a:r>
              <a:rPr lang="en-US" sz="1200" b="1" spc="0" baseline="0">
                <a:ln/>
                <a:cs typeface="Arial"/>
                <a:sym typeface="Arial"/>
                <a:rtl val="0"/>
              </a:rPr>
              <a:t>HTTP Request</a:t>
            </a:r>
          </a:p>
          <a:p>
            <a:pPr algn="l"/>
            <a:r>
              <a:rPr lang="en-US" sz="1200" b="1">
                <a:ln/>
                <a:cs typeface="Arial"/>
                <a:sym typeface="Arial"/>
                <a:rtl val="0"/>
              </a:rPr>
              <a:t>      (fetch/axios)</a:t>
            </a:r>
            <a:endParaRPr lang="en-US" sz="1200" b="1" spc="0" baseline="0">
              <a:ln/>
              <a:cs typeface="Arial"/>
              <a:sym typeface="Arial"/>
              <a:rtl val="0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97FEEA2-AD8A-CCE9-BE56-613803B797DB}"/>
              </a:ext>
            </a:extLst>
          </p:cNvPr>
          <p:cNvSpPr/>
          <p:nvPr/>
        </p:nvSpPr>
        <p:spPr>
          <a:xfrm flipV="1">
            <a:off x="2739430" y="1707519"/>
            <a:ext cx="2276626" cy="45719"/>
          </a:xfrm>
          <a:custGeom>
            <a:avLst/>
            <a:gdLst>
              <a:gd name="connsiteX0" fmla="*/ 1774508 w 1774507"/>
              <a:gd name="connsiteY0" fmla="*/ 0 h 11308"/>
              <a:gd name="connsiteX1" fmla="*/ 0 w 1774507"/>
              <a:gd name="connsiteY1" fmla="*/ 0 h 1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4507" h="11308">
                <a:moveTo>
                  <a:pt x="1774508" y="0"/>
                </a:moveTo>
                <a:lnTo>
                  <a:pt x="0" y="0"/>
                </a:lnTo>
              </a:path>
            </a:pathLst>
          </a:custGeom>
          <a:noFill/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E07CA9-03AC-08BF-1237-D6CBC4103080}"/>
              </a:ext>
            </a:extLst>
          </p:cNvPr>
          <p:cNvSpPr txBox="1"/>
          <p:nvPr/>
        </p:nvSpPr>
        <p:spPr>
          <a:xfrm>
            <a:off x="3331430" y="1822964"/>
            <a:ext cx="1444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b="1" spc="0" baseline="0">
                <a:ln/>
                <a:cs typeface="Arial"/>
                <a:sym typeface="Arial"/>
                <a:rtl val="0"/>
              </a:rPr>
              <a:t>7. JSON Response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DF4F582-C04F-8131-9443-D79133A6A144}"/>
              </a:ext>
            </a:extLst>
          </p:cNvPr>
          <p:cNvSpPr/>
          <p:nvPr/>
        </p:nvSpPr>
        <p:spPr>
          <a:xfrm>
            <a:off x="6080759" y="4070908"/>
            <a:ext cx="45719" cy="1535724"/>
          </a:xfrm>
          <a:custGeom>
            <a:avLst/>
            <a:gdLst>
              <a:gd name="connsiteX0" fmla="*/ 0 w 14196"/>
              <a:gd name="connsiteY0" fmla="*/ 0 h 678484"/>
              <a:gd name="connsiteX1" fmla="*/ 0 w 14196"/>
              <a:gd name="connsiteY1" fmla="*/ 678485 h 67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196" h="678484">
                <a:moveTo>
                  <a:pt x="0" y="0"/>
                </a:moveTo>
                <a:lnTo>
                  <a:pt x="0" y="678485"/>
                </a:lnTo>
              </a:path>
            </a:pathLst>
          </a:custGeom>
          <a:noFill/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FC62B1-48DC-DE57-74A3-BFD2A10D1D9D}"/>
              </a:ext>
            </a:extLst>
          </p:cNvPr>
          <p:cNvSpPr txBox="1"/>
          <p:nvPr/>
        </p:nvSpPr>
        <p:spPr>
          <a:xfrm>
            <a:off x="4970440" y="4653673"/>
            <a:ext cx="10830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ln/>
                <a:cs typeface="Arial"/>
                <a:sym typeface="Arial"/>
                <a:rtl val="0"/>
              </a:rPr>
              <a:t>3. SQL Query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D1A4D4F-8A73-1D0F-172C-E432D594FAEB}"/>
              </a:ext>
            </a:extLst>
          </p:cNvPr>
          <p:cNvSpPr/>
          <p:nvPr/>
        </p:nvSpPr>
        <p:spPr>
          <a:xfrm flipH="1">
            <a:off x="6318959" y="4070908"/>
            <a:ext cx="45719" cy="1535724"/>
          </a:xfrm>
          <a:custGeom>
            <a:avLst/>
            <a:gdLst>
              <a:gd name="connsiteX0" fmla="*/ 0 w 14196"/>
              <a:gd name="connsiteY0" fmla="*/ 678485 h 678484"/>
              <a:gd name="connsiteX1" fmla="*/ 0 w 14196"/>
              <a:gd name="connsiteY1" fmla="*/ 0 h 67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196" h="678484">
                <a:moveTo>
                  <a:pt x="0" y="678485"/>
                </a:moveTo>
                <a:lnTo>
                  <a:pt x="0" y="0"/>
                </a:lnTo>
              </a:path>
            </a:pathLst>
          </a:custGeom>
          <a:noFill/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C23223-B16A-3E18-B239-4AA91A5DF903}"/>
              </a:ext>
            </a:extLst>
          </p:cNvPr>
          <p:cNvSpPr txBox="1"/>
          <p:nvPr/>
        </p:nvSpPr>
        <p:spPr>
          <a:xfrm>
            <a:off x="6421993" y="4679206"/>
            <a:ext cx="676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ln/>
                <a:cs typeface="Arial"/>
                <a:sym typeface="Arial"/>
                <a:rtl val="0"/>
              </a:rPr>
              <a:t>4. Data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4BBB982-0BDC-AEC8-5824-5157AC52116F}"/>
              </a:ext>
            </a:extLst>
          </p:cNvPr>
          <p:cNvSpPr/>
          <p:nvPr/>
        </p:nvSpPr>
        <p:spPr>
          <a:xfrm>
            <a:off x="7145464" y="1470050"/>
            <a:ext cx="1774507" cy="11308"/>
          </a:xfrm>
          <a:custGeom>
            <a:avLst/>
            <a:gdLst>
              <a:gd name="connsiteX0" fmla="*/ 0 w 1774507"/>
              <a:gd name="connsiteY0" fmla="*/ 0 h 11308"/>
              <a:gd name="connsiteX1" fmla="*/ 1774508 w 1774507"/>
              <a:gd name="connsiteY1" fmla="*/ 0 h 1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4507" h="11308">
                <a:moveTo>
                  <a:pt x="0" y="0"/>
                </a:moveTo>
                <a:lnTo>
                  <a:pt x="1774508" y="0"/>
                </a:lnTo>
              </a:path>
            </a:pathLst>
          </a:custGeom>
          <a:noFill/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FE2B1D-2DEC-DC26-068B-30E629DC7529}"/>
              </a:ext>
            </a:extLst>
          </p:cNvPr>
          <p:cNvSpPr txBox="1"/>
          <p:nvPr/>
        </p:nvSpPr>
        <p:spPr>
          <a:xfrm>
            <a:off x="7579278" y="1188406"/>
            <a:ext cx="1098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ln/>
                <a:cs typeface="Arial"/>
                <a:sym typeface="Arial"/>
                <a:rtl val="0"/>
              </a:rPr>
              <a:t>5. AI Request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87F4969-66B2-B4B9-D099-4E94310218C7}"/>
              </a:ext>
            </a:extLst>
          </p:cNvPr>
          <p:cNvSpPr/>
          <p:nvPr/>
        </p:nvSpPr>
        <p:spPr>
          <a:xfrm>
            <a:off x="7145464" y="1696212"/>
            <a:ext cx="1774507" cy="11308"/>
          </a:xfrm>
          <a:custGeom>
            <a:avLst/>
            <a:gdLst>
              <a:gd name="connsiteX0" fmla="*/ 1774508 w 1774507"/>
              <a:gd name="connsiteY0" fmla="*/ 0 h 11308"/>
              <a:gd name="connsiteX1" fmla="*/ 0 w 1774507"/>
              <a:gd name="connsiteY1" fmla="*/ 0 h 1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4507" h="11308">
                <a:moveTo>
                  <a:pt x="1774508" y="0"/>
                </a:moveTo>
                <a:lnTo>
                  <a:pt x="0" y="0"/>
                </a:lnTo>
              </a:path>
            </a:pathLst>
          </a:custGeom>
          <a:noFill/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F4A47C-9295-0D6D-5083-18DD0B240EE6}"/>
              </a:ext>
            </a:extLst>
          </p:cNvPr>
          <p:cNvSpPr txBox="1"/>
          <p:nvPr/>
        </p:nvSpPr>
        <p:spPr>
          <a:xfrm>
            <a:off x="7508298" y="1753810"/>
            <a:ext cx="1213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ln/>
                <a:cs typeface="Arial"/>
                <a:sym typeface="Arial"/>
                <a:rtl val="0"/>
              </a:rPr>
              <a:t>6. AI Response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7C1F1FE-2C01-DFE6-1A7D-3D3881A3EC6A}"/>
              </a:ext>
            </a:extLst>
          </p:cNvPr>
          <p:cNvSpPr/>
          <p:nvPr/>
        </p:nvSpPr>
        <p:spPr>
          <a:xfrm>
            <a:off x="1577801" y="737674"/>
            <a:ext cx="340705" cy="271393"/>
          </a:xfrm>
          <a:custGeom>
            <a:avLst/>
            <a:gdLst>
              <a:gd name="connsiteX0" fmla="*/ 340705 w 340705"/>
              <a:gd name="connsiteY0" fmla="*/ 135697 h 271393"/>
              <a:gd name="connsiteX1" fmla="*/ 170353 w 340705"/>
              <a:gd name="connsiteY1" fmla="*/ 271394 h 271393"/>
              <a:gd name="connsiteX2" fmla="*/ 0 w 340705"/>
              <a:gd name="connsiteY2" fmla="*/ 135697 h 271393"/>
              <a:gd name="connsiteX3" fmla="*/ 170353 w 340705"/>
              <a:gd name="connsiteY3" fmla="*/ 0 h 271393"/>
              <a:gd name="connsiteX4" fmla="*/ 340705 w 340705"/>
              <a:gd name="connsiteY4" fmla="*/ 135697 h 2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705" h="271393">
                <a:moveTo>
                  <a:pt x="340705" y="135697"/>
                </a:moveTo>
                <a:cubicBezTo>
                  <a:pt x="340705" y="210640"/>
                  <a:pt x="264436" y="271394"/>
                  <a:pt x="170353" y="271394"/>
                </a:cubicBezTo>
                <a:cubicBezTo>
                  <a:pt x="76270" y="271394"/>
                  <a:pt x="0" y="210640"/>
                  <a:pt x="0" y="135697"/>
                </a:cubicBezTo>
                <a:cubicBezTo>
                  <a:pt x="0" y="60754"/>
                  <a:pt x="76270" y="0"/>
                  <a:pt x="170353" y="0"/>
                </a:cubicBezTo>
                <a:cubicBezTo>
                  <a:pt x="264436" y="0"/>
                  <a:pt x="340705" y="60754"/>
                  <a:pt x="340705" y="135697"/>
                </a:cubicBezTo>
                <a:close/>
              </a:path>
            </a:pathLst>
          </a:custGeom>
          <a:solidFill>
            <a:srgbClr val="FFFFFF"/>
          </a:solidFill>
          <a:ln w="21288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021CCB-2733-CA1F-8848-B74F24BAEF84}"/>
              </a:ext>
            </a:extLst>
          </p:cNvPr>
          <p:cNvSpPr txBox="1"/>
          <p:nvPr/>
        </p:nvSpPr>
        <p:spPr>
          <a:xfrm>
            <a:off x="1625863" y="751851"/>
            <a:ext cx="277622" cy="243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6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B6C0645-B019-5052-5855-05B3113B99D3}"/>
              </a:ext>
            </a:extLst>
          </p:cNvPr>
          <p:cNvSpPr/>
          <p:nvPr/>
        </p:nvSpPr>
        <p:spPr>
          <a:xfrm>
            <a:off x="5877564" y="744599"/>
            <a:ext cx="340705" cy="271393"/>
          </a:xfrm>
          <a:custGeom>
            <a:avLst/>
            <a:gdLst>
              <a:gd name="connsiteX0" fmla="*/ 340705 w 340705"/>
              <a:gd name="connsiteY0" fmla="*/ 135697 h 271393"/>
              <a:gd name="connsiteX1" fmla="*/ 170353 w 340705"/>
              <a:gd name="connsiteY1" fmla="*/ 271394 h 271393"/>
              <a:gd name="connsiteX2" fmla="*/ 0 w 340705"/>
              <a:gd name="connsiteY2" fmla="*/ 135697 h 271393"/>
              <a:gd name="connsiteX3" fmla="*/ 170353 w 340705"/>
              <a:gd name="connsiteY3" fmla="*/ 0 h 271393"/>
              <a:gd name="connsiteX4" fmla="*/ 340705 w 340705"/>
              <a:gd name="connsiteY4" fmla="*/ 135697 h 2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705" h="271393">
                <a:moveTo>
                  <a:pt x="340705" y="135697"/>
                </a:moveTo>
                <a:cubicBezTo>
                  <a:pt x="340705" y="210640"/>
                  <a:pt x="264436" y="271394"/>
                  <a:pt x="170353" y="271394"/>
                </a:cubicBezTo>
                <a:cubicBezTo>
                  <a:pt x="76270" y="271394"/>
                  <a:pt x="0" y="210640"/>
                  <a:pt x="0" y="135697"/>
                </a:cubicBezTo>
                <a:cubicBezTo>
                  <a:pt x="0" y="60754"/>
                  <a:pt x="76270" y="0"/>
                  <a:pt x="170353" y="0"/>
                </a:cubicBezTo>
                <a:cubicBezTo>
                  <a:pt x="264436" y="0"/>
                  <a:pt x="340705" y="60754"/>
                  <a:pt x="340705" y="135697"/>
                </a:cubicBezTo>
                <a:close/>
              </a:path>
            </a:pathLst>
          </a:custGeom>
          <a:solidFill>
            <a:srgbClr val="FFFFFF"/>
          </a:solidFill>
          <a:ln w="21288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3781A1D-9B0B-0EFE-3DA1-BA2192A5153D}"/>
              </a:ext>
            </a:extLst>
          </p:cNvPr>
          <p:cNvSpPr txBox="1"/>
          <p:nvPr/>
        </p:nvSpPr>
        <p:spPr>
          <a:xfrm>
            <a:off x="5923038" y="777002"/>
            <a:ext cx="277622" cy="243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6" b="1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2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52C5EC18-6E90-3977-EC3E-5BABE1908498}"/>
              </a:ext>
            </a:extLst>
          </p:cNvPr>
          <p:cNvSpPr/>
          <p:nvPr/>
        </p:nvSpPr>
        <p:spPr>
          <a:xfrm>
            <a:off x="1112139" y="2713939"/>
            <a:ext cx="3265093" cy="2940100"/>
          </a:xfrm>
          <a:custGeom>
            <a:avLst/>
            <a:gdLst>
              <a:gd name="connsiteX0" fmla="*/ 3194114 w 3265093"/>
              <a:gd name="connsiteY0" fmla="*/ 0 h 2940100"/>
              <a:gd name="connsiteX1" fmla="*/ 3265094 w 3265093"/>
              <a:gd name="connsiteY1" fmla="*/ 0 h 2940100"/>
              <a:gd name="connsiteX2" fmla="*/ 3265094 w 3265093"/>
              <a:gd name="connsiteY2" fmla="*/ 2940101 h 2940100"/>
              <a:gd name="connsiteX3" fmla="*/ 3194114 w 3265093"/>
              <a:gd name="connsiteY3" fmla="*/ 2940101 h 2940100"/>
              <a:gd name="connsiteX4" fmla="*/ 70980 w 3265093"/>
              <a:gd name="connsiteY4" fmla="*/ 2940101 h 2940100"/>
              <a:gd name="connsiteX5" fmla="*/ 0 w 3265093"/>
              <a:gd name="connsiteY5" fmla="*/ 2940101 h 2940100"/>
              <a:gd name="connsiteX6" fmla="*/ 0 w 3265093"/>
              <a:gd name="connsiteY6" fmla="*/ 0 h 2940100"/>
              <a:gd name="connsiteX7" fmla="*/ 70980 w 3265093"/>
              <a:gd name="connsiteY7" fmla="*/ 0 h 294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5093" h="2940100">
                <a:moveTo>
                  <a:pt x="3194114" y="0"/>
                </a:moveTo>
                <a:cubicBezTo>
                  <a:pt x="3233315" y="0"/>
                  <a:pt x="3265094" y="0"/>
                  <a:pt x="3265094" y="0"/>
                </a:cubicBezTo>
                <a:lnTo>
                  <a:pt x="3265094" y="2940101"/>
                </a:lnTo>
                <a:cubicBezTo>
                  <a:pt x="3265094" y="2940101"/>
                  <a:pt x="3233315" y="2940101"/>
                  <a:pt x="3194114" y="2940101"/>
                </a:cubicBezTo>
                <a:lnTo>
                  <a:pt x="70980" y="2940101"/>
                </a:lnTo>
                <a:cubicBezTo>
                  <a:pt x="31779" y="2940101"/>
                  <a:pt x="0" y="2940101"/>
                  <a:pt x="0" y="2940101"/>
                </a:cubicBezTo>
                <a:lnTo>
                  <a:pt x="0" y="0"/>
                </a:lnTo>
                <a:cubicBezTo>
                  <a:pt x="0" y="0"/>
                  <a:pt x="31779" y="0"/>
                  <a:pt x="70980" y="0"/>
                </a:cubicBezTo>
                <a:close/>
              </a:path>
            </a:pathLst>
          </a:custGeom>
          <a:solidFill>
            <a:srgbClr val="F5F5F5"/>
          </a:solidFill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14CEC3-B3B2-82DC-1B57-80FBAC542CF4}"/>
              </a:ext>
            </a:extLst>
          </p:cNvPr>
          <p:cNvSpPr txBox="1"/>
          <p:nvPr/>
        </p:nvSpPr>
        <p:spPr>
          <a:xfrm>
            <a:off x="1462717" y="2787130"/>
            <a:ext cx="220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spc="0" baseline="0">
                <a:ln/>
                <a:cs typeface="Arial"/>
                <a:sym typeface="Arial"/>
                <a:rtl val="0"/>
              </a:rPr>
              <a:t>Typical Request Flow: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C60C32-D422-05ED-DF85-AFCD35470CF6}"/>
              </a:ext>
            </a:extLst>
          </p:cNvPr>
          <p:cNvSpPr txBox="1"/>
          <p:nvPr/>
        </p:nvSpPr>
        <p:spPr>
          <a:xfrm>
            <a:off x="1162659" y="3110780"/>
            <a:ext cx="10743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spc="0" baseline="0">
                <a:ln/>
                <a:cs typeface="Arial"/>
                <a:sym typeface="Arial"/>
                <a:rtl val="0"/>
              </a:rPr>
              <a:t>1. User Action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4317B9-B613-70BE-894C-C689093AC8E9}"/>
              </a:ext>
            </a:extLst>
          </p:cNvPr>
          <p:cNvSpPr txBox="1"/>
          <p:nvPr/>
        </p:nvSpPr>
        <p:spPr>
          <a:xfrm>
            <a:off x="1304620" y="3280401"/>
            <a:ext cx="18870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spc="0" baseline="0">
                <a:ln/>
                <a:cs typeface="Arial"/>
                <a:sym typeface="Arial"/>
                <a:rtl val="0"/>
              </a:rPr>
              <a:t>→ React sends HTTP request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57C97E-AB3E-FB04-0A33-61B6821A5B89}"/>
              </a:ext>
            </a:extLst>
          </p:cNvPr>
          <p:cNvSpPr txBox="1"/>
          <p:nvPr/>
        </p:nvSpPr>
        <p:spPr>
          <a:xfrm>
            <a:off x="1162659" y="3563103"/>
            <a:ext cx="15023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spc="0" baseline="0">
                <a:ln/>
                <a:cs typeface="Arial"/>
                <a:sym typeface="Arial"/>
                <a:rtl val="0"/>
              </a:rPr>
              <a:t>2. Backend Receives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91F20E4-6756-B769-CBFC-EE32145872ED}"/>
              </a:ext>
            </a:extLst>
          </p:cNvPr>
          <p:cNvSpPr txBox="1"/>
          <p:nvPr/>
        </p:nvSpPr>
        <p:spPr>
          <a:xfrm>
            <a:off x="1304620" y="3732724"/>
            <a:ext cx="19912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spc="0" baseline="0">
                <a:ln/>
                <a:cs typeface="Arial"/>
                <a:sym typeface="Arial"/>
                <a:rtl val="0"/>
              </a:rPr>
              <a:t>→ Controller validates request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375282-49C5-1038-929C-E2665D21D118}"/>
              </a:ext>
            </a:extLst>
          </p:cNvPr>
          <p:cNvSpPr txBox="1"/>
          <p:nvPr/>
        </p:nvSpPr>
        <p:spPr>
          <a:xfrm>
            <a:off x="1304620" y="3902345"/>
            <a:ext cx="17299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spc="0" baseline="0">
                <a:ln/>
                <a:cs typeface="Arial"/>
                <a:sym typeface="Arial"/>
                <a:rtl val="0"/>
              </a:rPr>
              <a:t>→ Service layer processes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2B51FB-4F3C-953E-1F52-1564CDE13EA8}"/>
              </a:ext>
            </a:extLst>
          </p:cNvPr>
          <p:cNvSpPr txBox="1"/>
          <p:nvPr/>
        </p:nvSpPr>
        <p:spPr>
          <a:xfrm>
            <a:off x="1162659" y="4185047"/>
            <a:ext cx="13628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spc="0" baseline="0">
                <a:ln/>
                <a:cs typeface="Arial"/>
                <a:sym typeface="Arial"/>
                <a:rtl val="0"/>
              </a:rPr>
              <a:t>3. Database Query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EA4A8CB-03E1-EEB0-A323-EE1BF4F732F0}"/>
              </a:ext>
            </a:extLst>
          </p:cNvPr>
          <p:cNvSpPr txBox="1"/>
          <p:nvPr/>
        </p:nvSpPr>
        <p:spPr>
          <a:xfrm>
            <a:off x="1304620" y="4354669"/>
            <a:ext cx="18630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spc="0" baseline="0">
                <a:ln/>
                <a:cs typeface="Arial"/>
                <a:sym typeface="Arial"/>
                <a:rtl val="0"/>
              </a:rPr>
              <a:t>→ Fetch/store data via JDBC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6B96EA-9F91-3121-F91A-0BCF2FBDB57D}"/>
              </a:ext>
            </a:extLst>
          </p:cNvPr>
          <p:cNvSpPr txBox="1"/>
          <p:nvPr/>
        </p:nvSpPr>
        <p:spPr>
          <a:xfrm>
            <a:off x="1162659" y="4637371"/>
            <a:ext cx="18261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spc="0" baseline="0">
                <a:ln/>
                <a:cs typeface="Arial"/>
                <a:sym typeface="Arial"/>
                <a:rtl val="0"/>
              </a:rPr>
              <a:t>4. Optional: AI Processing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9C86AE-F4FC-9334-64C3-87EBB695BEEA}"/>
              </a:ext>
            </a:extLst>
          </p:cNvPr>
          <p:cNvSpPr txBox="1"/>
          <p:nvPr/>
        </p:nvSpPr>
        <p:spPr>
          <a:xfrm>
            <a:off x="1304620" y="4806992"/>
            <a:ext cx="15167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spc="0" baseline="0">
                <a:ln/>
                <a:cs typeface="Arial"/>
                <a:sym typeface="Arial"/>
                <a:rtl val="0"/>
              </a:rPr>
              <a:t>→ Call AI API if needed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E64AD8F-DD8C-4984-B18A-624F10036ACF}"/>
              </a:ext>
            </a:extLst>
          </p:cNvPr>
          <p:cNvSpPr txBox="1"/>
          <p:nvPr/>
        </p:nvSpPr>
        <p:spPr>
          <a:xfrm>
            <a:off x="1304620" y="4976613"/>
            <a:ext cx="15359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spc="0" baseline="0">
                <a:ln/>
                <a:cs typeface="Arial"/>
                <a:sym typeface="Arial"/>
                <a:rtl val="0"/>
              </a:rPr>
              <a:t>→ Process AI response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4A4715-8617-640F-2894-DE18BDE33CE4}"/>
              </a:ext>
            </a:extLst>
          </p:cNvPr>
          <p:cNvSpPr txBox="1"/>
          <p:nvPr/>
        </p:nvSpPr>
        <p:spPr>
          <a:xfrm>
            <a:off x="1162659" y="5259315"/>
            <a:ext cx="16257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b="1" spc="0" baseline="0">
                <a:ln/>
                <a:cs typeface="Arial"/>
                <a:sym typeface="Arial"/>
                <a:rtl val="0"/>
              </a:rPr>
              <a:t>5. Response Assembly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423A79-3BB6-E7A1-0CFC-B266CB9F19F6}"/>
              </a:ext>
            </a:extLst>
          </p:cNvPr>
          <p:cNvSpPr txBox="1"/>
          <p:nvPr/>
        </p:nvSpPr>
        <p:spPr>
          <a:xfrm>
            <a:off x="1304620" y="5428936"/>
            <a:ext cx="18630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spc="0" baseline="0">
                <a:ln/>
                <a:cs typeface="Arial"/>
                <a:sym typeface="Arial"/>
                <a:rtl val="0"/>
              </a:rPr>
              <a:t>→ Combine data + AI results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21507214-0F98-A821-55AD-5879302951C2}"/>
              </a:ext>
            </a:extLst>
          </p:cNvPr>
          <p:cNvSpPr/>
          <p:nvPr/>
        </p:nvSpPr>
        <p:spPr>
          <a:xfrm>
            <a:off x="7272692" y="2446784"/>
            <a:ext cx="4793771" cy="1158328"/>
          </a:xfrm>
          <a:custGeom>
            <a:avLst/>
            <a:gdLst>
              <a:gd name="connsiteX0" fmla="*/ 9866262 w 9937242"/>
              <a:gd name="connsiteY0" fmla="*/ 0 h 678484"/>
              <a:gd name="connsiteX1" fmla="*/ 9937242 w 9937242"/>
              <a:gd name="connsiteY1" fmla="*/ 0 h 678484"/>
              <a:gd name="connsiteX2" fmla="*/ 9937242 w 9937242"/>
              <a:gd name="connsiteY2" fmla="*/ 678485 h 678484"/>
              <a:gd name="connsiteX3" fmla="*/ 9866262 w 9937242"/>
              <a:gd name="connsiteY3" fmla="*/ 678485 h 678484"/>
              <a:gd name="connsiteX4" fmla="*/ 70980 w 9937242"/>
              <a:gd name="connsiteY4" fmla="*/ 678485 h 678484"/>
              <a:gd name="connsiteX5" fmla="*/ 0 w 9937242"/>
              <a:gd name="connsiteY5" fmla="*/ 678485 h 678484"/>
              <a:gd name="connsiteX6" fmla="*/ 0 w 9937242"/>
              <a:gd name="connsiteY6" fmla="*/ 0 h 678484"/>
              <a:gd name="connsiteX7" fmla="*/ 70980 w 9937242"/>
              <a:gd name="connsiteY7" fmla="*/ 0 h 67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37242" h="678484">
                <a:moveTo>
                  <a:pt x="9866262" y="0"/>
                </a:moveTo>
                <a:cubicBezTo>
                  <a:pt x="9905463" y="0"/>
                  <a:pt x="9937242" y="0"/>
                  <a:pt x="9937242" y="0"/>
                </a:cubicBezTo>
                <a:lnTo>
                  <a:pt x="9937242" y="678485"/>
                </a:lnTo>
                <a:cubicBezTo>
                  <a:pt x="9937242" y="678485"/>
                  <a:pt x="9905463" y="678485"/>
                  <a:pt x="9866262" y="678485"/>
                </a:cubicBezTo>
                <a:lnTo>
                  <a:pt x="70980" y="678485"/>
                </a:lnTo>
                <a:cubicBezTo>
                  <a:pt x="31779" y="678485"/>
                  <a:pt x="0" y="678485"/>
                  <a:pt x="0" y="678485"/>
                </a:cubicBezTo>
                <a:lnTo>
                  <a:pt x="0" y="0"/>
                </a:lnTo>
                <a:cubicBezTo>
                  <a:pt x="0" y="0"/>
                  <a:pt x="31779" y="0"/>
                  <a:pt x="70980" y="0"/>
                </a:cubicBezTo>
                <a:close/>
              </a:path>
            </a:pathLst>
          </a:custGeom>
          <a:solidFill>
            <a:srgbClr val="FFF3CD"/>
          </a:solidFill>
          <a:ln w="28385" cap="flat">
            <a:solidFill>
              <a:srgbClr val="33333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0816C0-2F23-B111-2C05-F6E416747FB1}"/>
              </a:ext>
            </a:extLst>
          </p:cNvPr>
          <p:cNvSpPr txBox="1"/>
          <p:nvPr/>
        </p:nvSpPr>
        <p:spPr>
          <a:xfrm>
            <a:off x="8762287" y="2482859"/>
            <a:ext cx="1358064" cy="2730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74" b="1" spc="0" baseline="0">
                <a:ln/>
                <a:solidFill>
                  <a:srgbClr val="000000"/>
                </a:solidFill>
                <a:ea typeface="Segoe UI Emoji"/>
                <a:sym typeface="Segoe UI Emoji"/>
                <a:rtl val="0"/>
              </a:rPr>
              <a:t>🔒</a:t>
            </a:r>
            <a:r>
              <a:rPr lang="en-US" sz="1174" b="1" spc="0" baseline="0">
                <a:ln/>
                <a:solidFill>
                  <a:srgbClr val="000000"/>
                </a:solidFill>
                <a:ea typeface="Segoe UI Emoji"/>
                <a:cs typeface="Arial"/>
                <a:sym typeface="Arial"/>
                <a:rtl val="0"/>
              </a:rPr>
              <a:t> Security Layer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49A335B-8BBF-AF36-BDC6-17B23226AFA1}"/>
              </a:ext>
            </a:extLst>
          </p:cNvPr>
          <p:cNvSpPr txBox="1"/>
          <p:nvPr/>
        </p:nvSpPr>
        <p:spPr>
          <a:xfrm>
            <a:off x="7293887" y="2776428"/>
            <a:ext cx="4536819" cy="711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6" spc="0" baseline="0">
                <a:ln/>
                <a:solidFill>
                  <a:srgbClr val="555555"/>
                </a:solidFill>
                <a:cs typeface="Arial"/>
                <a:sym typeface="Arial"/>
                <a:rtl val="0"/>
              </a:rPr>
              <a:t>API Keys, Database Credentials, and AI Tokens stored securely in Java backend</a:t>
            </a:r>
          </a:p>
          <a:p>
            <a:pPr algn="l"/>
            <a:r>
              <a:rPr lang="en-US" sz="1006">
                <a:ln/>
                <a:solidFill>
                  <a:srgbClr val="555555"/>
                </a:solidFill>
                <a:cs typeface="Arial"/>
                <a:sym typeface="Arial"/>
                <a:rtl val="0"/>
              </a:rPr>
              <a:t>Never exposed to React frontend</a:t>
            </a:r>
          </a:p>
          <a:p>
            <a:pPr algn="l"/>
            <a:r>
              <a:rPr lang="en-US" sz="1006" spc="0" baseline="0">
                <a:ln/>
                <a:solidFill>
                  <a:srgbClr val="555555"/>
                </a:solidFill>
                <a:cs typeface="Arial"/>
                <a:sym typeface="Arial"/>
                <a:rtl val="0"/>
              </a:rPr>
              <a:t>CORS configured</a:t>
            </a:r>
          </a:p>
          <a:p>
            <a:pPr algn="l"/>
            <a:r>
              <a:rPr lang="en-US" sz="1006">
                <a:ln/>
                <a:solidFill>
                  <a:srgbClr val="555555"/>
                </a:solidFill>
                <a:cs typeface="Arial"/>
                <a:sym typeface="Arial"/>
                <a:rtl val="0"/>
              </a:rPr>
              <a:t>Authentication/Authorization enforced</a:t>
            </a:r>
            <a:endParaRPr lang="en-US" sz="1006" spc="0" baseline="0">
              <a:ln/>
              <a:solidFill>
                <a:srgbClr val="555555"/>
              </a:solidFill>
              <a:cs typeface="Arial"/>
              <a:sym typeface="Arial"/>
              <a:rtl val="0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376C92B-9FB9-73AC-3010-90DF85E7CBC1}"/>
              </a:ext>
            </a:extLst>
          </p:cNvPr>
          <p:cNvCxnSpPr/>
          <p:nvPr/>
        </p:nvCxnSpPr>
        <p:spPr>
          <a:xfrm>
            <a:off x="6932523" y="2932043"/>
            <a:ext cx="34016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251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174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 Emoji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Conner</dc:creator>
  <cp:lastModifiedBy>Brandon Conner</cp:lastModifiedBy>
  <cp:revision>1</cp:revision>
  <dcterms:created xsi:type="dcterms:W3CDTF">2025-11-27T18:51:12Z</dcterms:created>
  <dcterms:modified xsi:type="dcterms:W3CDTF">2025-11-28T06:45:05Z</dcterms:modified>
</cp:coreProperties>
</file>